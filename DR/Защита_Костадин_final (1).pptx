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photo-1558618666-fcd25c85cd64" ContentType="image/photo-1558618666-fcd25c85cd6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927479-5411-99E7-BB46-5089CAFA01AB}" v="20" dt="2026-05-12T14:56:09.735"/>
    <p1510:client id="{8404CC39-7B14-5328-AFD2-7AF27A861C9C}" v="9" dt="2026-05-12T14:40:39.01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143" d="100"/>
          <a:sy n="143" d="100"/>
        </p:scale>
        <p:origin x="684" y="114"/>
      </p:cViewPr>
      <p:guideLst/>
    </p:cSldViewPr>
  </p:slideViewPr>
  <p:notesTextViewPr>
    <p:cViewPr>
      <p:scale>
        <a:sx n="1" d="1"/>
        <a:sy n="1" d="1"/>
      </p:scale>
      <p:origin x="0" y="-66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Контейнер за горния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Контейнер за дата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69FA4D-EC0D-486A-9145-D675F628021A}" type="datetimeFigureOut">
              <a:t>13.5.2026 г.</a:t>
            </a:fld>
            <a:endParaRPr lang="bg-BG"/>
          </a:p>
        </p:txBody>
      </p:sp>
      <p:sp>
        <p:nvSpPr>
          <p:cNvPr id="4" name="Контейнер за изображение на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Контейнер за бележки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</a:p>
        </p:txBody>
      </p:sp>
      <p:sp>
        <p:nvSpPr>
          <p:cNvPr id="6" name="Контейнер за долния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Контейнер за номер на слайда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D33020-6678-452F-9B34-FB97265CA8A3}" type="slidenum"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847714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highlight>
                  <a:srgbClr val="FFFFFF"/>
                </a:highlight>
              </a:rPr>
              <a:t>Системите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видеонаблюдение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намират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широко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приложение</a:t>
            </a:r>
            <a:r>
              <a:rPr lang="en-US" dirty="0">
                <a:highlight>
                  <a:srgbClr val="FFFFFF"/>
                </a:highlight>
              </a:rPr>
              <a:t> в </a:t>
            </a:r>
            <a:r>
              <a:rPr lang="en-US" dirty="0" err="1">
                <a:highlight>
                  <a:srgbClr val="FFFFFF"/>
                </a:highlight>
              </a:rPr>
              <a:t>съвременния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свят</a:t>
            </a:r>
            <a:r>
              <a:rPr lang="en-US" dirty="0">
                <a:highlight>
                  <a:srgbClr val="FFFFFF"/>
                </a:highlight>
              </a:rPr>
              <a:t>. Уеб </a:t>
            </a:r>
            <a:r>
              <a:rPr lang="en-US" dirty="0" err="1">
                <a:highlight>
                  <a:srgbClr val="FFFFFF"/>
                </a:highlight>
              </a:rPr>
              <a:t>технологиите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позволяват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достъп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директно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браузър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допълнителен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софтуер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или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хардуер</a:t>
            </a:r>
            <a:r>
              <a:rPr lang="en-US" dirty="0">
                <a:highlight>
                  <a:srgbClr val="FFFFFF"/>
                </a:highlight>
              </a:rPr>
              <a:t>. Това </a:t>
            </a:r>
            <a:r>
              <a:rPr lang="en-US" dirty="0" err="1">
                <a:highlight>
                  <a:srgbClr val="FFFFFF"/>
                </a:highlight>
              </a:rPr>
              <a:t>ги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прави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особено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подходящи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домашна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употреба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малкия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бизнес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образователни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 smtClean="0">
                <a:highlight>
                  <a:srgbClr val="FFFFFF"/>
                </a:highlight>
              </a:rPr>
              <a:t>институц</a:t>
            </a:r>
            <a:r>
              <a:rPr lang="bg-BG" dirty="0" smtClean="0">
                <a:highlight>
                  <a:srgbClr val="FFFFFF"/>
                </a:highlight>
              </a:rPr>
              <a:t>ии.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ighlight>
                  <a:srgbClr val="FFFFFF"/>
                </a:highlight>
              </a:rPr>
              <a:t>Системите за видеонаблюдение намират широко приложение в съвременния свят. Уеб технологиите позволяват достъп директно през браузър, без допълнителен софтуер или хардуер. Това ги прави особено подходящи за домашна употреба, малкия бизнес и образователни институции.</a:t>
            </a:r>
            <a:endParaRPr lang="en-US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Системата е уеб базирана платформа за видеонаблюдение, която работи директно в браузъра — без инсталация на допълнителен софтуер. Тя предава видео в реално време, автоматично засича движение и уведомява при засечено събитие. </a:t>
            </a:r>
            <a:r>
              <a:rPr lang="ru-RU" smtClean="0"/>
              <a:t>Всичко е разработено при спазване на изискванията на GDPR — с автоматично замъгляване на лица и контролирано съхранение на записите.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ighlight>
                  <a:srgbClr val="FFFFFF"/>
                </a:highlight>
              </a:rPr>
              <a:t>Python — </a:t>
            </a:r>
            <a:r>
              <a:rPr lang="en-US" dirty="0" err="1">
                <a:highlight>
                  <a:srgbClr val="FFFFFF"/>
                </a:highlight>
              </a:rPr>
              <a:t>основен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език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бекенда</a:t>
            </a:r>
            <a:r>
              <a:rPr lang="en-US" dirty="0">
                <a:highlight>
                  <a:srgbClr val="FFFFFF"/>
                </a:highlight>
              </a:rPr>
              <a:t>; Django (MVT) — </a:t>
            </a:r>
            <a:r>
              <a:rPr lang="en-US" dirty="0" err="1">
                <a:highlight>
                  <a:srgbClr val="FFFFFF"/>
                </a:highlight>
              </a:rPr>
              <a:t>уеб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рамката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обработка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заявките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бизнес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логиката</a:t>
            </a:r>
            <a:r>
              <a:rPr lang="en-US" dirty="0">
                <a:highlight>
                  <a:srgbClr val="FFFFFF"/>
                </a:highlight>
              </a:rPr>
              <a:t>; Django REST Framework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изграждане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REST API; OpenCV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детекция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движение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чрез</a:t>
            </a:r>
            <a:r>
              <a:rPr lang="en-US" dirty="0">
                <a:highlight>
                  <a:srgbClr val="FFFFFF"/>
                </a:highlight>
              </a:rPr>
              <a:t> frame differencing; MySQL/MariaDB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съхранение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камери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събития</a:t>
            </a:r>
            <a:r>
              <a:rPr lang="en-US" dirty="0">
                <a:highlight>
                  <a:srgbClr val="FFFFFF"/>
                </a:highlight>
              </a:rPr>
              <a:t>; HTML5, Bootstrap 5 и JavaScript —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изграждане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адаптивен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интерактивен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потребителски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интерфейс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ighlight>
                  <a:srgbClr val="FFFFFF"/>
                </a:highlight>
              </a:rPr>
              <a:t>След </a:t>
            </a:r>
            <a:r>
              <a:rPr lang="en-US" dirty="0" err="1">
                <a:highlight>
                  <a:srgbClr val="FFFFFF"/>
                </a:highlight>
              </a:rPr>
              <a:t>анализ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RTSP, HLS, DASH и WebRTC е </a:t>
            </a:r>
            <a:r>
              <a:rPr lang="en-US" dirty="0" err="1">
                <a:highlight>
                  <a:srgbClr val="FFFFFF"/>
                </a:highlight>
              </a:rPr>
              <a:t>избран</a:t>
            </a:r>
            <a:r>
              <a:rPr lang="en-US" dirty="0">
                <a:highlight>
                  <a:srgbClr val="FFFFFF"/>
                </a:highlight>
              </a:rPr>
              <a:t> MJPEG over HTTP — </a:t>
            </a:r>
            <a:r>
              <a:rPr lang="en-US" dirty="0" err="1">
                <a:highlight>
                  <a:srgbClr val="FFFFFF"/>
                </a:highlight>
              </a:rPr>
              <a:t>прост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реализация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нативно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поддържан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всички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браузъри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допълнителни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зависимости</a:t>
            </a:r>
            <a:r>
              <a:rPr lang="en-US" dirty="0">
                <a:highlight>
                  <a:srgbClr val="FFFFFF"/>
                </a:highlight>
              </a:rPr>
              <a:t>. Това </a:t>
            </a:r>
            <a:r>
              <a:rPr lang="en-US" dirty="0" err="1">
                <a:highlight>
                  <a:srgbClr val="FFFFFF"/>
                </a:highlight>
              </a:rPr>
              <a:t>го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прави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оптималното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решение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проект</a:t>
            </a:r>
            <a:r>
              <a:rPr lang="en-US" dirty="0">
                <a:highlight>
                  <a:srgbClr val="FFFFFF"/>
                </a:highlight>
              </a:rPr>
              <a:t> с </a:t>
            </a:r>
            <a:r>
              <a:rPr lang="en-US" dirty="0" err="1">
                <a:highlight>
                  <a:srgbClr val="FFFFFF"/>
                </a:highlight>
              </a:rPr>
              <a:t>приоритет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простотата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надеждността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bg-BG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Frame differencing започва с преобразуване на кадъра в сива скала и Gaussian blur (21×21), за да се премахне шумът и да се ускори обработката. След това се изчислява абсолютната разлика между два последователни кадъра, резултатът се бинаризира чрез thresholding и се търсят контури по светлите области. </a:t>
            </a:r>
            <a:r>
              <a:rPr lang="bg-BG" sz="1200" kern="120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Накрая около достатъчно големите контури се чертаят bounding boxes в реалния кадър, маркирайки движещите се обекти — всичко това само с пикселна аритметика, без ML модели, което го прави изключително лек за слаб хардуер.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highlight>
                  <a:srgbClr val="FFFFFF"/>
                </a:highlight>
              </a:rPr>
              <a:t>Камерата подава кадри към Django, OpenCV ги обработва и резултатът се предава към браузъра чрез MJPEG. При засечено движение събитието се записва автоматично в MariaDB. Целият процес се осъществява с минимално закъснение и без намеса от страна на потребителя.</a:t>
            </a:r>
            <a:endParaRPr lang="en-US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Системата предава видео на живо и автоматично засича движещи се обекти, като ги маркира с правоъгълници. При засичане се записва снимка и събитието се логва за по-късен преглед. </a:t>
            </a:r>
            <a:r>
              <a:rPr lang="ru-RU" smtClean="0"/>
              <a:t>Достъпът е контролиран чрез потребителски права, а камерите могат да се управляват дистанционно през REST API, който обработва заявките асинхронно — така системата остава отзивчива дори при много едновременни команди.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 smtClean="0"/>
              <a:t>За backend съм използвал Django заедно с OpenCV, а данните се пазят в MariaDB през Django ORM — имам два модела, единият за камерите, другият за засечените събития. За frontend съм избрал Bootstrap 5 с AJAX, за да може потокът и събитията да се виждат на живо без презареждане. </a:t>
            </a:r>
            <a:r>
              <a:rPr lang="ru-RU" smtClean="0"/>
              <a:t>Двата слоя говорят помежду си само през REST API, което ги прави независими и лесни за надграждане.</a:t>
            </a:r>
          </a:p>
          <a:p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highlight>
                  <a:srgbClr val="FFFFFF"/>
                </a:highlight>
              </a:rPr>
              <a:t>Създадена</a:t>
            </a:r>
            <a:r>
              <a:rPr lang="en-US" dirty="0">
                <a:highlight>
                  <a:srgbClr val="FFFFFF"/>
                </a:highlight>
              </a:rPr>
              <a:t> е </a:t>
            </a:r>
            <a:r>
              <a:rPr lang="en-US" dirty="0" err="1">
                <a:highlight>
                  <a:srgbClr val="FFFFFF"/>
                </a:highlight>
              </a:rPr>
              <a:t>работеща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система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за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уеб-базирано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видеонаблюдение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достъпна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директно</a:t>
            </a:r>
            <a:r>
              <a:rPr lang="en-US" dirty="0">
                <a:highlight>
                  <a:srgbClr val="FFFFFF"/>
                </a:highlight>
              </a:rPr>
              <a:t> в </a:t>
            </a:r>
            <a:r>
              <a:rPr lang="en-US" dirty="0" err="1">
                <a:highlight>
                  <a:srgbClr val="FFFFFF"/>
                </a:highlight>
              </a:rPr>
              <a:t>браузъра</a:t>
            </a:r>
            <a:r>
              <a:rPr lang="en-US" dirty="0">
                <a:highlight>
                  <a:srgbClr val="FFFFFF"/>
                </a:highlight>
              </a:rPr>
              <a:t>. В </a:t>
            </a:r>
            <a:r>
              <a:rPr lang="en-US" dirty="0" err="1">
                <a:highlight>
                  <a:srgbClr val="FFFFFF"/>
                </a:highlight>
              </a:rPr>
              <a:t>бъдеще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може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разшири</a:t>
            </a:r>
            <a:r>
              <a:rPr lang="en-US" dirty="0">
                <a:highlight>
                  <a:srgbClr val="FFFFFF"/>
                </a:highlight>
              </a:rPr>
              <a:t> с ML </a:t>
            </a:r>
            <a:r>
              <a:rPr lang="en-US" dirty="0" err="1">
                <a:highlight>
                  <a:srgbClr val="FFFFFF"/>
                </a:highlight>
              </a:rPr>
              <a:t>детекция</a:t>
            </a:r>
            <a:r>
              <a:rPr lang="en-US" dirty="0">
                <a:highlight>
                  <a:srgbClr val="FFFFFF"/>
                </a:highlight>
              </a:rPr>
              <a:t>, WebRTC и </a:t>
            </a:r>
            <a:r>
              <a:rPr lang="en-US" dirty="0" err="1">
                <a:highlight>
                  <a:srgbClr val="FFFFFF"/>
                </a:highlight>
              </a:rPr>
              <a:t>поддържка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множество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камери</a:t>
            </a:r>
            <a:r>
              <a:rPr lang="en-US" dirty="0">
                <a:highlight>
                  <a:srgbClr val="FFFFFF"/>
                </a:highlight>
              </a:rPr>
              <a:t>. Проектът </a:t>
            </a:r>
            <a:r>
              <a:rPr lang="en-US" dirty="0" err="1">
                <a:highlight>
                  <a:srgbClr val="FFFFFF"/>
                </a:highlight>
              </a:rPr>
              <a:t>доказва</a:t>
            </a:r>
            <a:r>
              <a:rPr lang="en-US" dirty="0">
                <a:highlight>
                  <a:srgbClr val="FFFFFF"/>
                </a:highlight>
              </a:rPr>
              <a:t>, </a:t>
            </a:r>
            <a:r>
              <a:rPr lang="en-US" dirty="0" err="1">
                <a:highlight>
                  <a:srgbClr val="FFFFFF"/>
                </a:highlight>
              </a:rPr>
              <a:t>че</a:t>
            </a:r>
            <a:r>
              <a:rPr lang="en-US" dirty="0">
                <a:highlight>
                  <a:srgbClr val="FFFFFF"/>
                </a:highlight>
              </a:rPr>
              <a:t> с </a:t>
            </a:r>
            <a:r>
              <a:rPr lang="en-US" dirty="0" err="1">
                <a:highlight>
                  <a:srgbClr val="FFFFFF"/>
                </a:highlight>
              </a:rPr>
              <a:t>отворен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код</a:t>
            </a:r>
            <a:r>
              <a:rPr lang="en-US" dirty="0">
                <a:highlight>
                  <a:srgbClr val="FFFFFF"/>
                </a:highlight>
              </a:rPr>
              <a:t> и </a:t>
            </a:r>
            <a:r>
              <a:rPr lang="en-US" dirty="0" err="1">
                <a:highlight>
                  <a:srgbClr val="FFFFFF"/>
                </a:highlight>
              </a:rPr>
              <a:t>съвременни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уеб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технологии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може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да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се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изгради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надеждна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система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без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скъпи</a:t>
            </a:r>
            <a:r>
              <a:rPr lang="en-US" dirty="0">
                <a:highlight>
                  <a:srgbClr val="FFFFFF"/>
                </a:highlight>
              </a:rPr>
              <a:t> </a:t>
            </a:r>
            <a:r>
              <a:rPr lang="en-US" dirty="0" err="1">
                <a:highlight>
                  <a:srgbClr val="FFFFFF"/>
                </a:highlight>
              </a:rPr>
              <a:t>лицензи</a:t>
            </a:r>
            <a:r>
              <a:rPr lang="en-US" dirty="0">
                <a:highlight>
                  <a:srgbClr val="FFFFFF"/>
                </a:highlight>
              </a:rPr>
              <a:t>.</a:t>
            </a:r>
            <a:endParaRPr lang="en-US" dirty="0">
              <a:highlight>
                <a:srgbClr val="606060"/>
              </a:highlight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hoto-1558618666-fcd25c85cd64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F6A00"/>
            </a:gs>
            <a:gs pos="100000">
              <a:srgbClr val="000000"/>
            </a:gs>
          </a:gsLst>
          <a:lin ang="5400000" scaled="0"/>
        </a:gradFill>
        <a:effectLst/>
      </p:bgPr>
    </p:bg>
    <p:spTree>
      <p:nvGrpSpPr>
        <p:cNvPr id="1" name="Group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-1017376" y="-1542741"/>
            <a:ext cx="11698852" cy="8085239"/>
            <a:chOff x="-1017376" y="-1542741"/>
            <a:chExt cx="11698852" cy="8085239"/>
          </a:xfrm>
        </p:grpSpPr>
        <p:grpSp>
          <p:nvGrpSpPr>
            <p:cNvPr id="10" name="Google Shape;10;p2"/>
            <p:cNvGrpSpPr/>
            <p:nvPr/>
          </p:nvGrpSpPr>
          <p:grpSpPr>
            <a:xfrm>
              <a:off x="-1017376" y="-1542741"/>
              <a:ext cx="3196998" cy="4533516"/>
              <a:chOff x="-1017376" y="-1542741"/>
              <a:chExt cx="3196998" cy="4533516"/>
            </a:xfrm>
          </p:grpSpPr>
          <p:pic>
            <p:nvPicPr>
              <p:cNvPr id="11" name="Google Shape;11;p2"/>
              <p:cNvPicPr preferRelativeResize="0"/>
              <p:nvPr/>
            </p:nvPicPr>
            <p:blipFill rotWithShape="1">
              <a:blip r:embed="rId3">
                <a:alphaModFix amt="20000"/>
              </a:blip>
              <a:srcRect/>
              <a:stretch/>
            </p:blipFill>
            <p:spPr>
              <a:xfrm>
                <a:off x="455301" y="139971"/>
                <a:ext cx="1362051" cy="144502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2" name="Google Shape;12;p2"/>
              <p:cNvPicPr preferRelativeResize="0"/>
              <p:nvPr/>
            </p:nvPicPr>
            <p:blipFill>
              <a:blip r:embed="rId4">
                <a:alphaModFix amt="51000"/>
              </a:blip>
              <a:stretch>
                <a:fillRect/>
              </a:stretch>
            </p:blipFill>
            <p:spPr>
              <a:xfrm>
                <a:off x="93022" y="-1542741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3" name="Google Shape;13;p2"/>
              <p:cNvPicPr preferRelativeResize="0"/>
              <p:nvPr/>
            </p:nvPicPr>
            <p:blipFill rotWithShape="1">
              <a:blip r:embed="rId5">
                <a:alphaModFix amt="50000"/>
              </a:blip>
              <a:srcRect/>
              <a:stretch/>
            </p:blipFill>
            <p:spPr>
              <a:xfrm>
                <a:off x="-1" y="-840225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4" name="Google Shape;14;p2"/>
              <p:cNvPicPr preferRelativeResize="0"/>
              <p:nvPr/>
            </p:nvPicPr>
            <p:blipFill>
              <a:blip r:embed="rId6">
                <a:alphaModFix amt="51000"/>
              </a:blip>
              <a:stretch>
                <a:fillRect/>
              </a:stretch>
            </p:blipFill>
            <p:spPr>
              <a:xfrm>
                <a:off x="-1017376" y="777088"/>
                <a:ext cx="2086600" cy="2213687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 rotWithShape="1">
              <a:blip r:embed="rId7">
                <a:alphaModFix amt="50000"/>
              </a:blip>
              <a:srcRect/>
              <a:stretch/>
            </p:blipFill>
            <p:spPr>
              <a:xfrm>
                <a:off x="54150" y="1684750"/>
                <a:ext cx="976201" cy="1035653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6" name="Google Shape;16;p2"/>
              <p:cNvPicPr preferRelativeResize="0"/>
              <p:nvPr/>
            </p:nvPicPr>
            <p:blipFill rotWithShape="1">
              <a:blip r:embed="rId3">
                <a:alphaModFix amt="51000"/>
              </a:blip>
              <a:srcRect/>
              <a:stretch/>
            </p:blipFill>
            <p:spPr>
              <a:xfrm>
                <a:off x="1617500" y="-47775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7" name="Google Shape;17;p2"/>
            <p:cNvGrpSpPr/>
            <p:nvPr/>
          </p:nvGrpSpPr>
          <p:grpSpPr>
            <a:xfrm>
              <a:off x="6896149" y="2519124"/>
              <a:ext cx="3785326" cy="4023374"/>
              <a:chOff x="6896149" y="2519124"/>
              <a:chExt cx="3785326" cy="4023374"/>
            </a:xfrm>
          </p:grpSpPr>
          <p:pic>
            <p:nvPicPr>
              <p:cNvPr id="18" name="Google Shape;18;p2"/>
              <p:cNvPicPr preferRelativeResize="0"/>
              <p:nvPr/>
            </p:nvPicPr>
            <p:blipFill rotWithShape="1">
              <a:blip r:embed="rId8">
                <a:alphaModFix amt="20000"/>
              </a:blip>
              <a:srcRect/>
              <a:stretch/>
            </p:blipFill>
            <p:spPr>
              <a:xfrm>
                <a:off x="8014450" y="4436291"/>
                <a:ext cx="1421225" cy="1507774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9" name="Google Shape;19;p2"/>
              <p:cNvPicPr preferRelativeResize="0"/>
              <p:nvPr/>
            </p:nvPicPr>
            <p:blipFill rotWithShape="1">
              <a:blip r:embed="rId6">
                <a:alphaModFix amt="40000"/>
              </a:blip>
              <a:srcRect/>
              <a:stretch/>
            </p:blipFill>
            <p:spPr>
              <a:xfrm>
                <a:off x="8574724" y="2519124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0" name="Google Shape;20;p2"/>
              <p:cNvPicPr preferRelativeResize="0"/>
              <p:nvPr/>
            </p:nvPicPr>
            <p:blipFill rotWithShape="1">
              <a:blip r:embed="rId6">
                <a:alphaModFix amt="50000"/>
              </a:blip>
              <a:srcRect/>
              <a:stretch/>
            </p:blipFill>
            <p:spPr>
              <a:xfrm>
                <a:off x="7803749" y="3971236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1" name="Google Shape;21;p2"/>
              <p:cNvPicPr preferRelativeResize="0"/>
              <p:nvPr/>
            </p:nvPicPr>
            <p:blipFill rotWithShape="1">
              <a:blip r:embed="rId5">
                <a:alphaModFix amt="50000"/>
              </a:blip>
              <a:srcRect/>
              <a:stretch/>
            </p:blipFill>
            <p:spPr>
              <a:xfrm>
                <a:off x="6896149" y="4307449"/>
                <a:ext cx="2106751" cy="2235049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2" name="Google Shape;22;p2"/>
              <p:cNvPicPr preferRelativeResize="0"/>
              <p:nvPr/>
            </p:nvPicPr>
            <p:blipFill rotWithShape="1">
              <a:blip r:embed="rId7">
                <a:alphaModFix amt="50000"/>
              </a:blip>
              <a:srcRect/>
              <a:stretch/>
            </p:blipFill>
            <p:spPr>
              <a:xfrm>
                <a:off x="8784575" y="3377488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23" name="Google Shape;23;p2"/>
              <p:cNvPicPr preferRelativeResize="0"/>
              <p:nvPr/>
            </p:nvPicPr>
            <p:blipFill rotWithShape="1">
              <a:blip r:embed="rId3">
                <a:alphaModFix amt="51000"/>
              </a:blip>
              <a:srcRect/>
              <a:stretch/>
            </p:blipFill>
            <p:spPr>
              <a:xfrm>
                <a:off x="7498700" y="4709975"/>
                <a:ext cx="488574" cy="51833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24" name="Google Shape;24;p2"/>
          <p:cNvGrpSpPr/>
          <p:nvPr/>
        </p:nvGrpSpPr>
        <p:grpSpPr>
          <a:xfrm>
            <a:off x="944648" y="-1043287"/>
            <a:ext cx="9172975" cy="7259138"/>
            <a:chOff x="944648" y="-1043287"/>
            <a:chExt cx="9172975" cy="7259138"/>
          </a:xfrm>
        </p:grpSpPr>
        <p:cxnSp>
          <p:nvCxnSpPr>
            <p:cNvPr id="25" name="Google Shape;25;p2"/>
            <p:cNvCxnSpPr/>
            <p:nvPr/>
          </p:nvCxnSpPr>
          <p:spPr>
            <a:xfrm rot="10800000" flipH="1">
              <a:off x="2726248" y="-1043287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6" name="Google Shape;26;p2"/>
            <p:cNvCxnSpPr/>
            <p:nvPr/>
          </p:nvCxnSpPr>
          <p:spPr>
            <a:xfrm rot="10800000" flipH="1">
              <a:off x="944648" y="4672950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7" name="Google Shape;27;p2"/>
            <p:cNvCxnSpPr/>
            <p:nvPr/>
          </p:nvCxnSpPr>
          <p:spPr>
            <a:xfrm rot="10800000" flipH="1">
              <a:off x="8574723" y="1294125"/>
              <a:ext cx="1542900" cy="154290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28" name="Google Shape;28;p2"/>
          <p:cNvGrpSpPr/>
          <p:nvPr/>
        </p:nvGrpSpPr>
        <p:grpSpPr>
          <a:xfrm>
            <a:off x="-87950" y="-111852"/>
            <a:ext cx="9067971" cy="5089755"/>
            <a:chOff x="-87950" y="-111852"/>
            <a:chExt cx="9067971" cy="5089755"/>
          </a:xfrm>
        </p:grpSpPr>
        <p:pic>
          <p:nvPicPr>
            <p:cNvPr id="29" name="Google Shape;29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-87950" y="3065802"/>
              <a:ext cx="245783" cy="2607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30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0" y="4004123"/>
              <a:ext cx="385995" cy="409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1" name="Google Shape;31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331850" y="4848926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2" name="Google Shape;32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7987275" y="-111852"/>
              <a:ext cx="385995" cy="4095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3" name="Google Shape;33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8734237" y="492902"/>
              <a:ext cx="245783" cy="2607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4" name="Google Shape;34;p2"/>
            <p:cNvPicPr preferRelativeResize="0"/>
            <p:nvPr/>
          </p:nvPicPr>
          <p:blipFill rotWithShape="1">
            <a:blip r:embed="rId3">
              <a:alphaModFix amt="51000"/>
            </a:blip>
            <a:srcRect/>
            <a:stretch/>
          </p:blipFill>
          <p:spPr>
            <a:xfrm>
              <a:off x="8428900" y="1585001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5" name="Google Shape;35;p2"/>
            <p:cNvPicPr preferRelativeResize="0"/>
            <p:nvPr/>
          </p:nvPicPr>
          <p:blipFill rotWithShape="1">
            <a:blip r:embed="rId7">
              <a:alphaModFix amt="50000"/>
            </a:blip>
            <a:srcRect/>
            <a:stretch/>
          </p:blipFill>
          <p:spPr>
            <a:xfrm>
              <a:off x="6896150" y="4848923"/>
              <a:ext cx="121575" cy="12897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555" name="header_text"/>
          <p:cNvSpPr txBox="1">
            <a:spLocks noGrp="1"/>
          </p:cNvSpPr>
          <p:nvPr/>
        </p:nvSpPr>
        <p:spPr>
          <a:xfrm>
            <a:off x="1639930" y="-183404"/>
            <a:ext cx="6333848" cy="215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bg-BG" dirty="0"/>
              <a:t> </a:t>
            </a:r>
            <a:br>
              <a:rPr lang="bg-BG" dirty="0"/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Държавен изпит за придобиване на трета степен на професионална квалификация – част по теория на професията</a:t>
            </a:r>
            <a: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  <a:t/>
            </a:r>
            <a:b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по професия код 481030 „Приложен програмист”</a:t>
            </a:r>
            <a: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  <a:t/>
            </a:r>
            <a:br>
              <a:rPr lang="bg-BG" sz="1600" dirty="0">
                <a:solidFill>
                  <a:schemeClr val="bg1"/>
                </a:solidFill>
                <a:latin typeface="Century" panose="02040604050505020304" pitchFamily="18" charset="0"/>
              </a:rPr>
            </a:br>
            <a:r>
              <a:rPr lang="bg-BG" sz="1600" dirty="0">
                <a:solidFill>
                  <a:schemeClr val="bg1"/>
                </a:solidFill>
                <a:latin typeface="Century"/>
              </a:rPr>
              <a:t>специалност код 4810301 „Приложно програмиране”</a:t>
            </a:r>
            <a:endParaRPr dirty="0">
              <a:solidFill>
                <a:schemeClr val="bg1"/>
              </a:solidFill>
              <a:latin typeface="Century"/>
            </a:endParaRPr>
          </a:p>
        </p:txBody>
      </p:sp>
      <p:sp>
        <p:nvSpPr>
          <p:cNvPr id="556" name="diploma_name"/>
          <p:cNvSpPr txBox="1">
            <a:spLocks noGrp="1"/>
          </p:cNvSpPr>
          <p:nvPr/>
        </p:nvSpPr>
        <p:spPr>
          <a:xfrm>
            <a:off x="4805908" y="3843946"/>
            <a:ext cx="3821100" cy="40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bg-BG" dirty="0">
                <a:solidFill>
                  <a:schemeClr val="bg1"/>
                </a:solidFill>
                <a:latin typeface="Century"/>
              </a:rPr>
              <a:t>Дипломант: Костадин Димитров Пидов</a:t>
            </a:r>
          </a:p>
        </p:txBody>
      </p:sp>
      <p:pic>
        <p:nvPicPr>
          <p:cNvPr id="557" name="school_logo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42488" y="543377"/>
            <a:ext cx="1287445" cy="1373915"/>
          </a:xfrm>
          <a:prstGeom prst="rect">
            <a:avLst/>
          </a:prstGeom>
        </p:spPr>
      </p:pic>
      <p:sp>
        <p:nvSpPr>
          <p:cNvPr id="558" name="topic_rect"/>
          <p:cNvSpPr/>
          <p:nvPr/>
        </p:nvSpPr>
        <p:spPr>
          <a:xfrm>
            <a:off x="1389700" y="2321117"/>
            <a:ext cx="3905727" cy="1138940"/>
          </a:xfrm>
          <a:prstGeom prst="rect">
            <a:avLst/>
          </a:prstGeom>
          <a:solidFill>
            <a:srgbClr val="7693B5">
              <a:alpha val="71000"/>
            </a:srgbClr>
          </a:solidFill>
          <a:ln>
            <a:solidFill>
              <a:srgbClr val="7693B5"/>
            </a:solidFill>
          </a:ln>
        </p:spPr>
        <p:txBody>
          <a:bodyPr lIns="91440" tIns="45720" rIns="91440" bIns="45720" rtlCol="0" anchor="ctr"/>
          <a:lstStyle/>
          <a:p>
            <a:pPr marL="540385" indent="-540385" algn="ctr"/>
            <a:r>
              <a:rPr lang="bg-BG" sz="2000" b="1" dirty="0">
                <a:solidFill>
                  <a:srgbClr val="FFFFFF"/>
                </a:solidFill>
                <a:latin typeface="Century" panose="02040604050505020304" pitchFamily="18" charset="0"/>
              </a:rPr>
              <a:t>Тема: </a:t>
            </a:r>
          </a:p>
          <a:p>
            <a:pPr marL="540385" indent="-540385" algn="ctr"/>
            <a:r>
              <a:rPr lang="bg-BG" sz="1600" b="1" dirty="0">
                <a:solidFill>
                  <a:srgbClr val="FFFFFF"/>
                </a:solidFill>
                <a:latin typeface="Century"/>
              </a:rPr>
              <a:t>„</a:t>
            </a:r>
            <a:r>
              <a:rPr lang="bg-BG" sz="1600" dirty="0">
                <a:solidFill>
                  <a:srgbClr val="FFFFFF"/>
                </a:solidFill>
                <a:ea typeface="+mn-lt"/>
                <a:cs typeface="+mn-lt"/>
              </a:rPr>
              <a:t>Система за видеонаблюдение през уеб </a:t>
            </a:r>
            <a:r>
              <a:rPr lang="bg-BG" sz="1600">
                <a:solidFill>
                  <a:srgbClr val="FFFFFF"/>
                </a:solidFill>
                <a:ea typeface="+mn-lt"/>
                <a:cs typeface="+mn-lt"/>
              </a:rPr>
              <a:t>(Live Streaming).</a:t>
            </a:r>
            <a:r>
              <a:rPr lang="bg-BG" sz="1600" b="1" dirty="0">
                <a:solidFill>
                  <a:srgbClr val="FFFFFF"/>
                </a:solidFill>
                <a:latin typeface="Century"/>
                <a:ea typeface="+mn-lt"/>
                <a:cs typeface="+mn-lt"/>
              </a:rPr>
              <a:t>“</a:t>
            </a:r>
            <a:endParaRPr lang="bg-BG" sz="1600" b="1">
              <a:solidFill>
                <a:srgbClr val="FFFFFF"/>
              </a:solidFill>
              <a:latin typeface="Century"/>
            </a:endParaRPr>
          </a:p>
        </p:txBody>
      </p:sp>
      <p:sp>
        <p:nvSpPr>
          <p:cNvPr id="559" name="deco1"/>
          <p:cNvSpPr/>
          <p:nvPr/>
        </p:nvSpPr>
        <p:spPr>
          <a:xfrm>
            <a:off x="5209081" y="2332465"/>
            <a:ext cx="457357" cy="460880"/>
          </a:xfrm>
          <a:prstGeom prst="rect">
            <a:avLst/>
          </a:prstGeom>
          <a:solidFill>
            <a:srgbClr val="7109D8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  <p:sp>
        <p:nvSpPr>
          <p:cNvPr id="560" name="deco2"/>
          <p:cNvSpPr/>
          <p:nvPr/>
        </p:nvSpPr>
        <p:spPr>
          <a:xfrm>
            <a:off x="1275274" y="3459638"/>
            <a:ext cx="560719" cy="585964"/>
          </a:xfrm>
          <a:prstGeom prst="rect">
            <a:avLst/>
          </a:prstGeom>
          <a:solidFill>
            <a:srgbClr val="7109D8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  <p:sp>
        <p:nvSpPr>
          <p:cNvPr id="561" name="deco3"/>
          <p:cNvSpPr/>
          <p:nvPr/>
        </p:nvSpPr>
        <p:spPr>
          <a:xfrm>
            <a:off x="1073465" y="3301943"/>
            <a:ext cx="317638" cy="315389"/>
          </a:xfrm>
          <a:prstGeom prst="rect">
            <a:avLst/>
          </a:prstGeom>
          <a:solidFill>
            <a:srgbClr val="7109D8">
              <a:alpha val="57000"/>
            </a:srgbClr>
          </a:solidFill>
          <a:ln>
            <a:noFill/>
          </a:ln>
        </p:spPr>
        <p:txBody>
          <a:bodyPr rtlCol="0" anchor="ctr"/>
          <a:lstStyle/>
          <a:p>
            <a:endParaRPr lang="bg-BG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Въведение</a:t>
            </a:r>
            <a:endParaRPr lang="en-US" sz="2400" dirty="0"/>
          </a:p>
        </p:txBody>
      </p:sp>
      <p:pic>
        <p:nvPicPr>
          <p:cNvPr id="4" name="Image 0" descr="https://images.unsplash.com/photo-1558618666-fcd25c85cd64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0040" y="868680"/>
            <a:ext cx="393192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480560" y="91440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663440" y="9144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Широко приложение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663440" y="12618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Системите за видеонаблюдение са неизменна част от съвременната сигурност.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480560" y="210312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63440" y="21031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 без инсталация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663440" y="24505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 технологиите позволяват достъп директно в браузъра.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480560" y="3291840"/>
            <a:ext cx="54864" cy="91440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63440" y="32918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допълнителен хардуер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663440" y="3639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се изисква специализиран клиентски софтуер или хардуер.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 на проекта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97280"/>
            <a:ext cx="269748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🎥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Видеопоток в реално време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Наблюдение на живо директно в браузъра без закъснение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97480" cy="329184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4612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38328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 на движение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Автоматично засичане и маркиране на движещи се обекти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1097280"/>
            <a:ext cx="2697480" cy="329184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72200" y="128016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309360" y="2011680"/>
            <a:ext cx="2423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 съобразеност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2743200"/>
            <a:ext cx="2423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Защита на личните данни съгласно европейското законодателство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Използвани технологии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2651760" cy="1508760"/>
          </a:xfrm>
          <a:prstGeom prst="rect">
            <a:avLst/>
          </a:prstGeom>
          <a:solidFill>
            <a:srgbClr val="306998"/>
          </a:solidFill>
          <a:ln w="12700">
            <a:solidFill>
              <a:srgbClr val="306998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1148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Основен език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005840"/>
            <a:ext cx="2651760" cy="1508760"/>
          </a:xfrm>
          <a:prstGeom prst="rect">
            <a:avLst/>
          </a:prstGeom>
          <a:solidFill>
            <a:srgbClr val="092E20"/>
          </a:solidFill>
          <a:ln w="12700">
            <a:solidFill>
              <a:srgbClr val="092E2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9184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MVT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9184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 фреймуърк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0760" y="1005840"/>
            <a:ext cx="2651760" cy="1508760"/>
          </a:xfrm>
          <a:prstGeom prst="rect">
            <a:avLst/>
          </a:prstGeom>
          <a:solidFill>
            <a:srgbClr val="A30000"/>
          </a:solidFill>
          <a:ln w="12700">
            <a:solidFill>
              <a:srgbClr val="A30000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72200" y="12344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REST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72200" y="17830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0040" y="2743200"/>
            <a:ext cx="2651760" cy="1508760"/>
          </a:xfrm>
          <a:prstGeom prst="rect">
            <a:avLst/>
          </a:prstGeom>
          <a:solidFill>
            <a:srgbClr val="5C3317"/>
          </a:solidFill>
          <a:ln w="12700">
            <a:solidFill>
              <a:srgbClr val="5C3317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1148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1148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2743200"/>
            <a:ext cx="2651760" cy="1508760"/>
          </a:xfrm>
          <a:prstGeom prst="rect">
            <a:avLst/>
          </a:prstGeom>
          <a:solidFill>
            <a:srgbClr val="00618A"/>
          </a:solidFill>
          <a:ln w="12700">
            <a:solidFill>
              <a:srgbClr val="00618A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29184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MySQL/MariaDB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29184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данни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080760" y="2743200"/>
            <a:ext cx="2651760" cy="1508760"/>
          </a:xfrm>
          <a:prstGeom prst="rect">
            <a:avLst/>
          </a:prstGeom>
          <a:solidFill>
            <a:srgbClr val="7952B3"/>
          </a:solidFill>
          <a:ln w="12700">
            <a:solidFill>
              <a:srgbClr val="7952B3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172200" y="297180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172200" y="352044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DD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Стрийминг протоколи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28600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601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0" y="960120"/>
            <a:ext cx="301752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0" y="9601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Предимство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0" y="960120"/>
            <a:ext cx="2834640" cy="411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0" y="9601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Недостатък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417320"/>
            <a:ext cx="2286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41732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RTSP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417320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141732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Ниска латентност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0" y="1417320"/>
            <a:ext cx="2834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141732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Изисква специален плейър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" y="2130552"/>
            <a:ext cx="228600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213055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0" y="2130552"/>
            <a:ext cx="301752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0" y="213055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Широка поддръжка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2130552"/>
            <a:ext cx="2834640" cy="658368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2130552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Висока латентност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20040" y="2843784"/>
            <a:ext cx="22860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0040" y="284378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WebRTC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0" y="2843784"/>
            <a:ext cx="3017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0" y="284378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Реално време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0" y="2843784"/>
            <a:ext cx="28346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843784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Сложна имплементация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20040" y="3557016"/>
            <a:ext cx="228600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0040" y="3557016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MJPEG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743200" y="3557016"/>
            <a:ext cx="301752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0" y="3557016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Прост, нативен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943600" y="3557016"/>
            <a:ext cx="2834640" cy="658368"/>
          </a:xfrm>
          <a:prstGeom prst="rect">
            <a:avLst/>
          </a:prstGeom>
          <a:solidFill>
            <a:srgbClr val="FFF3E0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943600" y="3557016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По-голям bandwidth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320040" y="43434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Избран протокол: MJPEG over HTTP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Алгоритъм за детекция на движение</a:t>
            </a:r>
            <a:endParaRPr lang="en-US" sz="2400" dirty="0"/>
          </a:p>
        </p:txBody>
      </p:sp>
      <p:pic>
        <p:nvPicPr>
          <p:cNvPr id="4" name="Image 0" descr="https://images.unsplash.com/photo-1617802690658-1173a812650d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029200" y="914400"/>
            <a:ext cx="3794760" cy="3566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20040" y="960120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20040" y="960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" y="97840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Grayscale преобразуване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" y="1572768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77240" y="159105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blur  (21×21)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20040" y="2185416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2185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77240" y="22037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absdiff между кадри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20040" y="2798064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00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77240" y="281635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Thresholding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20040" y="3410712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0040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77240" y="34290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Намиране на контури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20040" y="4023360"/>
            <a:ext cx="384048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004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77240" y="40416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Bounding boxes в реално време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работи приложението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82880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82880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28600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Камера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28600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подава кадри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64208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947672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947672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⚙️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1993392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993392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получава stream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29000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712464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712464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3758184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58184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обработва кадри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193792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77256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77256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📡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522976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MJPEG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522976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изпраща към браузър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958584" y="2194560"/>
            <a:ext cx="274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7242048" y="1463040"/>
            <a:ext cx="1463040" cy="2194560"/>
          </a:xfrm>
          <a:prstGeom prst="rect">
            <a:avLst/>
          </a:prstGeom>
          <a:solidFill>
            <a:srgbClr val="1E3A5F"/>
          </a:solidFill>
          <a:ln w="19050">
            <a:solidFill>
              <a:srgbClr val="E8630A"/>
            </a:solidFill>
            <a:prstDash val="solid"/>
          </a:ln>
          <a:effectLst>
            <a:outerShdw blurRad="101600" dist="254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242048" y="1554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0000"/>
                </a:solidFill>
              </a:rPr>
              <a:t>💾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7287768" y="228600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MariaDB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287768" y="2697480"/>
            <a:ext cx="1371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записва събития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0040" y="402336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CC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засечено движение → събитието се записва автоматично в MariaDB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Основни функционалности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429768" y="1033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🎬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124712" y="12161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Видеопоток в реално време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96012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864608" y="10332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🟩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559552" y="121615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Детекция с bounding boxes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219456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9768" y="226771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📸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124712" y="24505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 на снимки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754880" y="219456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864608" y="226771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📋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559552" y="245059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Логване на събития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0040" y="342900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29768" y="35021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👤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124712" y="36850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Управление на потребителски права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754880" y="3429000"/>
            <a:ext cx="4114800" cy="105156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blurRad="63500" dist="127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864608" y="350215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🔗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59552" y="368503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за управление на камерите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и Frontend архитектура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114800" cy="3566160"/>
          </a:xfrm>
          <a:prstGeom prst="rect">
            <a:avLst/>
          </a:prstGeom>
          <a:solidFill>
            <a:srgbClr val="0D1B2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1005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63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Django + OpenCV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10312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Django ORM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Модел CameraSource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Модел MotionEvent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61188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MariaDB база данни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14800" cy="3566160"/>
          </a:xfrm>
          <a:prstGeom prst="rect">
            <a:avLst/>
          </a:prstGeom>
          <a:solidFill>
            <a:srgbClr val="F5F5F5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00584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46320" y="160020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Bootstrap 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210312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JavaScript / AJAX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260604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Визуализация на потока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46320" y="31089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Преглед на събитията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46320" y="361188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Асинхронно управление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Заключение</a:t>
            </a:r>
            <a:endParaRPr lang="en-US" sz="2400" dirty="0"/>
          </a:p>
        </p:txBody>
      </p:sp>
      <p:pic>
        <p:nvPicPr>
          <p:cNvPr id="4" name="Image 0" descr="https://images.unsplash.com/photo-1563013544-824ae1b704d3?w=600&amp;q=8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846320" y="914400"/>
            <a:ext cx="397764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20040" y="100584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Постигнато: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320040" y="1508760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02920" y="1527048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Работеща система за уеб-базирано видеонаблюдение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20040" y="2130552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214884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Достъпна директно в браузъра без допълнителен софтуер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20040" y="2752344"/>
            <a:ext cx="73152" cy="384048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" y="2770632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Автоматична детекция и логване на движение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20040" y="3154680"/>
            <a:ext cx="4297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Бъдещо развитие: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57200" y="3611880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Machine Learning детекция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3959352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WebRTC поддръжка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4306824"/>
            <a:ext cx="4160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Множество камери едновременно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Благодаря Ви за вниманието!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Костадин Димитров Пидов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3832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Уеб-базирана система за видеонаблюдение с детекция на движение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8630A"/>
          </a:solidFill>
          <a:ln w="12700">
            <a:solidFill>
              <a:srgbClr val="E8630A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на Office">
  <a:themeElements>
    <a:clrScheme name="О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641</Words>
  <Application>Microsoft Office PowerPoint</Application>
  <PresentationFormat>On-screen Show (16:9)</PresentationFormat>
  <Paragraphs>144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Century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Admin</cp:lastModifiedBy>
  <cp:revision>38</cp:revision>
  <dcterms:created xsi:type="dcterms:W3CDTF">2026-05-12T09:25:33Z</dcterms:created>
  <dcterms:modified xsi:type="dcterms:W3CDTF">2026-05-13T06:24:12Z</dcterms:modified>
</cp:coreProperties>
</file>
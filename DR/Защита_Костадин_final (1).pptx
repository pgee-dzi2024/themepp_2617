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photo-1558618666-fcd25c85cd64" ContentType="image/photo-1558618666-fcd25c85cd6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27479-5411-99E7-BB46-5089CAFA01AB}" v="20" dt="2026-05-12T14:56:09.735"/>
    <p1510:client id="{8404CC39-7B14-5328-AFD2-7AF27A861C9C}" v="9" dt="2026-05-12T14:40:39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9FA4D-EC0D-486A-9145-D675F628021A}" type="datetimeFigureOut">
              <a:t>13.5.2026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33020-6678-452F-9B34-FB97265CA8A3}" type="slidenum"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477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FFFFFF"/>
                </a:highlight>
              </a:rPr>
              <a:t>Системите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видеонаблюдение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намират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широко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приложение</a:t>
            </a:r>
            <a:r>
              <a:rPr lang="en-US" dirty="0">
                <a:highlight>
                  <a:srgbClr val="FFFFFF"/>
                </a:highlight>
              </a:rPr>
              <a:t> в </a:t>
            </a:r>
            <a:r>
              <a:rPr lang="en-US" dirty="0" err="1">
                <a:highlight>
                  <a:srgbClr val="FFFFFF"/>
                </a:highlight>
              </a:rPr>
              <a:t>съвременния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свят</a:t>
            </a:r>
            <a:r>
              <a:rPr lang="en-US" dirty="0">
                <a:highlight>
                  <a:srgbClr val="FFFFFF"/>
                </a:highlight>
              </a:rPr>
              <a:t>. Уеб </a:t>
            </a:r>
            <a:r>
              <a:rPr lang="en-US" dirty="0" err="1">
                <a:highlight>
                  <a:srgbClr val="FFFFFF"/>
                </a:highlight>
              </a:rPr>
              <a:t>технологиите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позволяват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достъп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директно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през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браузър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без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допълнителен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софтуер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или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хардуер</a:t>
            </a:r>
            <a:r>
              <a:rPr lang="en-US" dirty="0">
                <a:highlight>
                  <a:srgbClr val="FFFFFF"/>
                </a:highlight>
              </a:rPr>
              <a:t>. Това </a:t>
            </a:r>
            <a:r>
              <a:rPr lang="en-US" dirty="0" err="1">
                <a:highlight>
                  <a:srgbClr val="FFFFFF"/>
                </a:highlight>
              </a:rPr>
              <a:t>ги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прави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особено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подходящи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домашна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употреба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малкия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бизнес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образователни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 smtClean="0">
                <a:highlight>
                  <a:srgbClr val="FFFFFF"/>
                </a:highlight>
              </a:rPr>
              <a:t>институц</a:t>
            </a:r>
            <a:r>
              <a:rPr lang="bg-BG" dirty="0" smtClean="0">
                <a:highlight>
                  <a:srgbClr val="FFFFFF"/>
                </a:highlight>
              </a:rPr>
              <a:t>ии.</a:t>
            </a:r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ighlight>
                  <a:srgbClr val="FFFFFF"/>
                </a:highlight>
              </a:rPr>
              <a:t>Системите за видеонаблюдение намират широко приложение в съвременния свят. Уеб технологиите позволяват достъп директно през браузър, без допълнителен софтуер или хардуер. Това ги прави особено подходящи за домашна употреба, малкия бизнес и образователни институции.</a:t>
            </a:r>
            <a:endParaRPr lang="en-US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Системата е уеб базирана платформа за видеонаблюдение, която работи директно в браузъра — без инсталация на допълнителен софтуер. Тя предава видео в реално време, автоматично засича движение и уведомява при засечено събитие. </a:t>
            </a:r>
            <a:r>
              <a:rPr lang="ru-RU" smtClean="0"/>
              <a:t>Всичко е разработено при спазване на изискванията на GDPR — с автоматично замъгляване на лица и контролирано съхранение на записите.</a:t>
            </a:r>
          </a:p>
          <a:p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FF"/>
                </a:highlight>
              </a:rPr>
              <a:t>Python — </a:t>
            </a:r>
            <a:r>
              <a:rPr lang="en-US" dirty="0" err="1">
                <a:highlight>
                  <a:srgbClr val="FFFFFF"/>
                </a:highlight>
              </a:rPr>
              <a:t>основен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език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бекенда</a:t>
            </a:r>
            <a:r>
              <a:rPr lang="en-US" dirty="0">
                <a:highlight>
                  <a:srgbClr val="FFFFFF"/>
                </a:highlight>
              </a:rPr>
              <a:t>; Django (MVT) — </a:t>
            </a:r>
            <a:r>
              <a:rPr lang="en-US" dirty="0" err="1">
                <a:highlight>
                  <a:srgbClr val="FFFFFF"/>
                </a:highlight>
              </a:rPr>
              <a:t>уеб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рамката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обработка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заявките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бизнес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логиката</a:t>
            </a:r>
            <a:r>
              <a:rPr lang="en-US" dirty="0">
                <a:highlight>
                  <a:srgbClr val="FFFFFF"/>
                </a:highlight>
              </a:rPr>
              <a:t>; Django REST Framework —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изграждане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REST API; OpenCV —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детекция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движение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чрез</a:t>
            </a:r>
            <a:r>
              <a:rPr lang="en-US" dirty="0">
                <a:highlight>
                  <a:srgbClr val="FFFFFF"/>
                </a:highlight>
              </a:rPr>
              <a:t> frame differencing; MySQL/MariaDB —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съхранение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камери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събития</a:t>
            </a:r>
            <a:r>
              <a:rPr lang="en-US" dirty="0">
                <a:highlight>
                  <a:srgbClr val="FFFFFF"/>
                </a:highlight>
              </a:rPr>
              <a:t>; HTML5, Bootstrap 5 и JavaScript —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изграждане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адаптивен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интерактивен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потребителски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интерфейс</a:t>
            </a:r>
            <a:r>
              <a:rPr lang="en-US" dirty="0">
                <a:highlight>
                  <a:srgbClr val="FFFFFF"/>
                </a:highlight>
              </a:rPr>
              <a:t>.</a:t>
            </a:r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Разгледахме няколко протокола — RTSP, HLS, DASH и WebRTC — и накрая избрахме MJPEG over HTTP. Причината е проста: той е лесен за реализация и работи нативно във всички браузъри, без да се налага да инсталираш каквото и да е допълнително. </a:t>
            </a:r>
            <a:r>
              <a:rPr lang="ru-RU" smtClean="0"/>
              <a:t>Това го прави най-подходящото решение за проект, където простотата и надеждността са на първо място.</a:t>
            </a:r>
          </a:p>
          <a:p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 differencing започва с преобразуване на кадъра в сива скала и Gaussian blur (21×21), за да се премахне шумът и да се ускори обработката. След това се изчислява абсолютната разлика между два последователни кадъра, резултатът се бинаризира чрез thresholding и се търсят контури по светлите области. </a:t>
            </a:r>
            <a:r>
              <a:rPr lang="bg-BG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Накрая около достатъчно големите контури се чертаят bounding boxes в реалния кадър, маркирайки движещите се обекти — всичко това само с пикселна аритметика, без ML модели, което го прави изключително лек за слаб хардуер.</a:t>
            </a:r>
          </a:p>
          <a:p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ighlight>
                  <a:srgbClr val="FFFFFF"/>
                </a:highlight>
              </a:rPr>
              <a:t>Камерата подава кадри към Django, OpenCV ги обработва и резултатът се предава към браузъра чрез MJPEG. При засечено движение събитието се записва автоматично в MariaDB. Целият процес се осъществява с минимално закъснение и без намеса от страна на потребителя.</a:t>
            </a:r>
            <a:endParaRPr lang="en-US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Системата предава видео на живо от камерата и автоматично засича движение чрез алгоритъма frame differencing. Всяко събитие се записва в базата данни с времеви печат и снимка на кадъра, а достъпът до системата е защитен чрез потребителска аутентикация и управление на сесии. </a:t>
            </a:r>
            <a:r>
              <a:rPr lang="bg-BG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Камерите могат да се управляват дистанционно през REST API, а целият интерфейс работи в браузъра без инсталация на допълнителен софтуер.</a:t>
            </a:r>
          </a:p>
          <a:p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За backend съм използвал Django заедно с OpenCV, а данните се пазят в MariaDB през Django ORM — имам два модела, единият за камерите, другият за засечените събития. За frontend съм избрал Bootstrap 5 с AJAX, за да може потокът и събитията да се виждат на живо без презареждане. </a:t>
            </a:r>
            <a:r>
              <a:rPr lang="ru-RU" smtClean="0"/>
              <a:t>Двата слоя говорят помежду си само през REST API, което ги прави независими и лесни за надграждане.</a:t>
            </a:r>
          </a:p>
          <a:p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FFFFFF"/>
                </a:highlight>
              </a:rPr>
              <a:t>Създадена</a:t>
            </a:r>
            <a:r>
              <a:rPr lang="en-US" dirty="0">
                <a:highlight>
                  <a:srgbClr val="FFFFFF"/>
                </a:highlight>
              </a:rPr>
              <a:t> е </a:t>
            </a:r>
            <a:r>
              <a:rPr lang="en-US" dirty="0" err="1">
                <a:highlight>
                  <a:srgbClr val="FFFFFF"/>
                </a:highlight>
              </a:rPr>
              <a:t>работеща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система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уеб-базирано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видеонаблюдение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достъпна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директно</a:t>
            </a:r>
            <a:r>
              <a:rPr lang="en-US" dirty="0">
                <a:highlight>
                  <a:srgbClr val="FFFFFF"/>
                </a:highlight>
              </a:rPr>
              <a:t> в </a:t>
            </a:r>
            <a:r>
              <a:rPr lang="en-US" dirty="0" err="1">
                <a:highlight>
                  <a:srgbClr val="FFFFFF"/>
                </a:highlight>
              </a:rPr>
              <a:t>браузъра</a:t>
            </a:r>
            <a:r>
              <a:rPr lang="en-US" dirty="0">
                <a:highlight>
                  <a:srgbClr val="FFFFFF"/>
                </a:highlight>
              </a:rPr>
              <a:t>. В </a:t>
            </a:r>
            <a:r>
              <a:rPr lang="en-US" dirty="0" err="1">
                <a:highlight>
                  <a:srgbClr val="FFFFFF"/>
                </a:highlight>
              </a:rPr>
              <a:t>бъдеще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може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разшири</a:t>
            </a:r>
            <a:r>
              <a:rPr lang="en-US" dirty="0">
                <a:highlight>
                  <a:srgbClr val="FFFFFF"/>
                </a:highlight>
              </a:rPr>
              <a:t> с ML </a:t>
            </a:r>
            <a:r>
              <a:rPr lang="en-US" dirty="0" err="1">
                <a:highlight>
                  <a:srgbClr val="FFFFFF"/>
                </a:highlight>
              </a:rPr>
              <a:t>детекция</a:t>
            </a:r>
            <a:r>
              <a:rPr lang="en-US" dirty="0">
                <a:highlight>
                  <a:srgbClr val="FFFFFF"/>
                </a:highlight>
              </a:rPr>
              <a:t>, WebRTC и </a:t>
            </a:r>
            <a:r>
              <a:rPr lang="en-US" dirty="0" err="1">
                <a:highlight>
                  <a:srgbClr val="FFFFFF"/>
                </a:highlight>
              </a:rPr>
              <a:t>поддържка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множество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камери</a:t>
            </a:r>
            <a:r>
              <a:rPr lang="en-US" dirty="0">
                <a:highlight>
                  <a:srgbClr val="FFFFFF"/>
                </a:highlight>
              </a:rPr>
              <a:t>. Проектът </a:t>
            </a:r>
            <a:r>
              <a:rPr lang="en-US" dirty="0" err="1">
                <a:highlight>
                  <a:srgbClr val="FFFFFF"/>
                </a:highlight>
              </a:rPr>
              <a:t>доказва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че</a:t>
            </a:r>
            <a:r>
              <a:rPr lang="en-US" dirty="0">
                <a:highlight>
                  <a:srgbClr val="FFFFFF"/>
                </a:highlight>
              </a:rPr>
              <a:t> с </a:t>
            </a:r>
            <a:r>
              <a:rPr lang="en-US" dirty="0" err="1">
                <a:highlight>
                  <a:srgbClr val="FFFFFF"/>
                </a:highlight>
              </a:rPr>
              <a:t>отворен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код</a:t>
            </a:r>
            <a:r>
              <a:rPr lang="en-US" dirty="0">
                <a:highlight>
                  <a:srgbClr val="FFFFFF"/>
                </a:highlight>
              </a:rPr>
              <a:t> и </a:t>
            </a:r>
            <a:r>
              <a:rPr lang="en-US" dirty="0" err="1">
                <a:highlight>
                  <a:srgbClr val="FFFFFF"/>
                </a:highlight>
              </a:rPr>
              <a:t>съвременни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уеб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технологии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може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да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се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изгради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надеждна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система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без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скъпи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лицензи</a:t>
            </a:r>
            <a:r>
              <a:rPr lang="en-US" dirty="0">
                <a:highlight>
                  <a:srgbClr val="FFFFFF"/>
                </a:highlight>
              </a:rPr>
              <a:t>.</a:t>
            </a:r>
            <a:endParaRPr lang="en-US" dirty="0">
              <a:highlight>
                <a:srgbClr val="60606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hoto-1558618666-fcd25c85cd64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hoto-1558618666-fcd25c85cd64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hoto-1558618666-fcd25c85cd64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6A00"/>
            </a:gs>
            <a:gs pos="100000">
              <a:srgbClr val="000000"/>
            </a:gs>
          </a:gsLst>
          <a:lin ang="5400000" scaled="0"/>
        </a:gra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17376" y="-1542741"/>
            <a:ext cx="11698852" cy="8085239"/>
            <a:chOff x="-1017376" y="-1542741"/>
            <a:chExt cx="11698852" cy="8085239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1017376" y="-1542741"/>
              <a:ext cx="3196998" cy="4533516"/>
              <a:chOff x="-1017376" y="-1542741"/>
              <a:chExt cx="3196998" cy="4533516"/>
            </a:xfrm>
          </p:grpSpPr>
          <p:pic>
            <p:nvPicPr>
              <p:cNvPr id="11" name="Google Shape;11;p2"/>
              <p:cNvPicPr preferRelativeResize="0"/>
              <p:nvPr/>
            </p:nvPicPr>
            <p:blipFill rotWithShape="1">
              <a:blip r:embed="rId3">
                <a:alphaModFix amt="20000"/>
              </a:blip>
              <a:srcRect/>
              <a:stretch/>
            </p:blipFill>
            <p:spPr>
              <a:xfrm>
                <a:off x="455301" y="139971"/>
                <a:ext cx="1362051" cy="1445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;p2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93022" y="-15427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;p2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-1" y="-84022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>
              <a:blip r:embed="rId6">
                <a:alphaModFix amt="51000"/>
              </a:blip>
              <a:stretch>
                <a:fillRect/>
              </a:stretch>
            </p:blipFill>
            <p:spPr>
              <a:xfrm>
                <a:off x="-1017376" y="77708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 rotWithShape="1">
              <a:blip r:embed="rId7">
                <a:alphaModFix amt="50000"/>
              </a:blip>
              <a:srcRect/>
              <a:stretch/>
            </p:blipFill>
            <p:spPr>
              <a:xfrm>
                <a:off x="54150" y="1684750"/>
                <a:ext cx="976201" cy="10356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"/>
              <p:cNvPicPr preferRelativeResize="0"/>
              <p:nvPr/>
            </p:nvPicPr>
            <p:blipFill rotWithShape="1">
              <a:blip r:embed="rId3">
                <a:alphaModFix amt="51000"/>
              </a:blip>
              <a:srcRect/>
              <a:stretch/>
            </p:blipFill>
            <p:spPr>
              <a:xfrm>
                <a:off x="1617500" y="-477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" name="Google Shape;17;p2"/>
            <p:cNvGrpSpPr/>
            <p:nvPr/>
          </p:nvGrpSpPr>
          <p:grpSpPr>
            <a:xfrm>
              <a:off x="6896149" y="2519124"/>
              <a:ext cx="3785326" cy="4023374"/>
              <a:chOff x="6896149" y="2519124"/>
              <a:chExt cx="3785326" cy="4023374"/>
            </a:xfrm>
          </p:grpSpPr>
          <p:pic>
            <p:nvPicPr>
              <p:cNvPr id="18" name="Google Shape;18;p2"/>
              <p:cNvPicPr preferRelativeResize="0"/>
              <p:nvPr/>
            </p:nvPicPr>
            <p:blipFill rotWithShape="1">
              <a:blip r:embed="rId8">
                <a:alphaModFix amt="20000"/>
              </a:blip>
              <a:srcRect/>
              <a:stretch/>
            </p:blipFill>
            <p:spPr>
              <a:xfrm>
                <a:off x="8014450" y="4436291"/>
                <a:ext cx="1421225" cy="1507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9;p2"/>
              <p:cNvPicPr preferRelativeResize="0"/>
              <p:nvPr/>
            </p:nvPicPr>
            <p:blipFill rotWithShape="1">
              <a:blip r:embed="rId6">
                <a:alphaModFix amt="40000"/>
              </a:blip>
              <a:srcRect/>
              <a:stretch/>
            </p:blipFill>
            <p:spPr>
              <a:xfrm>
                <a:off x="8574724" y="251912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2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7803749" y="397123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1;p2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6896149" y="430744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2;p2"/>
              <p:cNvPicPr preferRelativeResize="0"/>
              <p:nvPr/>
            </p:nvPicPr>
            <p:blipFill rotWithShape="1">
              <a:blip r:embed="rId7">
                <a:alphaModFix amt="50000"/>
              </a:blip>
              <a:srcRect/>
              <a:stretch/>
            </p:blipFill>
            <p:spPr>
              <a:xfrm>
                <a:off x="8784575" y="3377488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3;p2"/>
              <p:cNvPicPr preferRelativeResize="0"/>
              <p:nvPr/>
            </p:nvPicPr>
            <p:blipFill rotWithShape="1">
              <a:blip r:embed="rId3">
                <a:alphaModFix amt="51000"/>
              </a:blip>
              <a:srcRect/>
              <a:stretch/>
            </p:blipFill>
            <p:spPr>
              <a:xfrm>
                <a:off x="7498700" y="47099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" name="Google Shape;24;p2"/>
          <p:cNvGrpSpPr/>
          <p:nvPr/>
        </p:nvGrpSpPr>
        <p:grpSpPr>
          <a:xfrm>
            <a:off x="944648" y="-1043287"/>
            <a:ext cx="9172975" cy="7259138"/>
            <a:chOff x="944648" y="-1043287"/>
            <a:chExt cx="9172975" cy="7259138"/>
          </a:xfrm>
        </p:grpSpPr>
        <p:cxnSp>
          <p:nvCxnSpPr>
            <p:cNvPr id="25" name="Google Shape;25;p2"/>
            <p:cNvCxnSpPr/>
            <p:nvPr/>
          </p:nvCxnSpPr>
          <p:spPr>
            <a:xfrm rot="10800000" flipH="1">
              <a:off x="272624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 rot="10800000" flipH="1">
              <a:off x="944648" y="467295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 rot="10800000" flipH="1">
              <a:off x="8574723" y="1294125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28;p2"/>
          <p:cNvGrpSpPr/>
          <p:nvPr/>
        </p:nvGrpSpPr>
        <p:grpSpPr>
          <a:xfrm>
            <a:off x="-87950" y="-111852"/>
            <a:ext cx="9067971" cy="5089755"/>
            <a:chOff x="-87950" y="-111852"/>
            <a:chExt cx="9067971" cy="5089755"/>
          </a:xfrm>
        </p:grpSpPr>
        <p:pic>
          <p:nvPicPr>
            <p:cNvPr id="29" name="Google Shape;29;p2"/>
            <p:cNvPicPr preferRelativeResize="0"/>
            <p:nvPr/>
          </p:nvPicPr>
          <p:blipFill rotWithShape="1">
            <a:blip r:embed="rId3">
              <a:alphaModFix amt="51000"/>
            </a:blip>
            <a:srcRect/>
            <a:stretch/>
          </p:blipFill>
          <p:spPr>
            <a:xfrm>
              <a:off x="-87950" y="30658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0" y="400412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2"/>
            <p:cNvPicPr preferRelativeResize="0"/>
            <p:nvPr/>
          </p:nvPicPr>
          <p:blipFill rotWithShape="1">
            <a:blip r:embed="rId3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2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2"/>
            <p:cNvPicPr preferRelativeResize="0"/>
            <p:nvPr/>
          </p:nvPicPr>
          <p:blipFill rotWithShape="1">
            <a:blip r:embed="rId3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 amt="51000"/>
            </a:blip>
            <a:srcRect/>
            <a:stretch/>
          </p:blipFill>
          <p:spPr>
            <a:xfrm>
              <a:off x="8428900" y="15850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2"/>
            <p:cNvPicPr preferRelativeResize="0"/>
            <p:nvPr/>
          </p:nvPicPr>
          <p:blipFill rotWithShape="1">
            <a:blip r:embed="rId7">
              <a:alphaModFix amt="50000"/>
            </a:blip>
            <a:srcRect/>
            <a:stretch/>
          </p:blipFill>
          <p:spPr>
            <a:xfrm>
              <a:off x="6896150" y="48489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5" name="header_text"/>
          <p:cNvSpPr txBox="1">
            <a:spLocks noGrp="1"/>
          </p:cNvSpPr>
          <p:nvPr/>
        </p:nvSpPr>
        <p:spPr>
          <a:xfrm>
            <a:off x="1639930" y="-183404"/>
            <a:ext cx="6333848" cy="21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bg-BG" dirty="0"/>
              <a:t> </a:t>
            </a:r>
            <a:br>
              <a:rPr lang="bg-BG" dirty="0"/>
            </a:br>
            <a:r>
              <a:rPr lang="bg-BG" sz="1600" dirty="0">
                <a:solidFill>
                  <a:schemeClr val="bg1"/>
                </a:solidFill>
                <a:latin typeface="Century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r>
              <a:rPr lang="bg-BG" sz="1600" dirty="0">
                <a:solidFill>
                  <a:schemeClr val="bg1"/>
                </a:solidFill>
                <a:latin typeface="Century" panose="02040604050505020304" pitchFamily="18" charset="0"/>
              </a:rPr>
              <a:t/>
            </a:r>
            <a:br>
              <a:rPr lang="bg-BG" sz="1600" dirty="0">
                <a:solidFill>
                  <a:schemeClr val="bg1"/>
                </a:solidFill>
                <a:latin typeface="Century" panose="02040604050505020304" pitchFamily="18" charset="0"/>
              </a:rPr>
            </a:br>
            <a:r>
              <a:rPr lang="bg-BG" sz="1600" dirty="0">
                <a:solidFill>
                  <a:schemeClr val="bg1"/>
                </a:solidFill>
                <a:latin typeface="Century"/>
              </a:rPr>
              <a:t>по професия код 481030 „Приложен програмист”</a:t>
            </a:r>
            <a:r>
              <a:rPr lang="bg-BG" sz="1600" dirty="0">
                <a:solidFill>
                  <a:schemeClr val="bg1"/>
                </a:solidFill>
                <a:latin typeface="Century" panose="02040604050505020304" pitchFamily="18" charset="0"/>
              </a:rPr>
              <a:t/>
            </a:r>
            <a:br>
              <a:rPr lang="bg-BG" sz="1600" dirty="0">
                <a:solidFill>
                  <a:schemeClr val="bg1"/>
                </a:solidFill>
                <a:latin typeface="Century" panose="02040604050505020304" pitchFamily="18" charset="0"/>
              </a:rPr>
            </a:br>
            <a:r>
              <a:rPr lang="bg-BG" sz="1600" dirty="0">
                <a:solidFill>
                  <a:schemeClr val="bg1"/>
                </a:solidFill>
                <a:latin typeface="Century"/>
              </a:rPr>
              <a:t>специалност код 4810301 „Приложно програмиране”</a:t>
            </a:r>
            <a:endParaRPr dirty="0">
              <a:solidFill>
                <a:schemeClr val="bg1"/>
              </a:solidFill>
              <a:latin typeface="Century"/>
            </a:endParaRPr>
          </a:p>
        </p:txBody>
      </p:sp>
      <p:sp>
        <p:nvSpPr>
          <p:cNvPr id="556" name="diploma_name"/>
          <p:cNvSpPr txBox="1">
            <a:spLocks noGrp="1"/>
          </p:cNvSpPr>
          <p:nvPr/>
        </p:nvSpPr>
        <p:spPr>
          <a:xfrm>
            <a:off x="4805908" y="3843946"/>
            <a:ext cx="38211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bg1"/>
                </a:solidFill>
                <a:latin typeface="Century"/>
              </a:rPr>
              <a:t>Дипломант: Костадин Димитров Пидов</a:t>
            </a:r>
          </a:p>
        </p:txBody>
      </p:sp>
      <p:pic>
        <p:nvPicPr>
          <p:cNvPr id="557" name="school_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2488" y="543377"/>
            <a:ext cx="1287445" cy="1373915"/>
          </a:xfrm>
          <a:prstGeom prst="rect">
            <a:avLst/>
          </a:prstGeom>
        </p:spPr>
      </p:pic>
      <p:sp>
        <p:nvSpPr>
          <p:cNvPr id="558" name="topic_rect"/>
          <p:cNvSpPr/>
          <p:nvPr/>
        </p:nvSpPr>
        <p:spPr>
          <a:xfrm>
            <a:off x="1389700" y="2321117"/>
            <a:ext cx="3905727" cy="1138940"/>
          </a:xfrm>
          <a:prstGeom prst="rect">
            <a:avLst/>
          </a:prstGeom>
          <a:solidFill>
            <a:srgbClr val="7693B5">
              <a:alpha val="71000"/>
            </a:srgbClr>
          </a:solidFill>
          <a:ln>
            <a:solidFill>
              <a:srgbClr val="7693B5"/>
            </a:solidFill>
          </a:ln>
        </p:spPr>
        <p:txBody>
          <a:bodyPr lIns="91440" tIns="45720" rIns="91440" bIns="45720" rtlCol="0" anchor="ctr"/>
          <a:lstStyle/>
          <a:p>
            <a:pPr marL="540385" indent="-540385" algn="ctr"/>
            <a:r>
              <a:rPr lang="bg-BG" sz="2000" b="1" dirty="0">
                <a:solidFill>
                  <a:srgbClr val="FFFFFF"/>
                </a:solidFill>
                <a:latin typeface="Century" panose="02040604050505020304" pitchFamily="18" charset="0"/>
              </a:rPr>
              <a:t>Тема: </a:t>
            </a:r>
          </a:p>
          <a:p>
            <a:pPr marL="540385" indent="-540385" algn="ctr"/>
            <a:r>
              <a:rPr lang="bg-BG" sz="1600" b="1" dirty="0">
                <a:solidFill>
                  <a:srgbClr val="FFFFFF"/>
                </a:solidFill>
                <a:latin typeface="Century"/>
              </a:rPr>
              <a:t>„</a:t>
            </a:r>
            <a:r>
              <a:rPr lang="bg-BG" sz="1600" dirty="0">
                <a:solidFill>
                  <a:srgbClr val="FFFFFF"/>
                </a:solidFill>
                <a:ea typeface="+mn-lt"/>
                <a:cs typeface="+mn-lt"/>
              </a:rPr>
              <a:t>Система за видеонаблюдение през уеб </a:t>
            </a:r>
            <a:r>
              <a:rPr lang="bg-BG" sz="1600">
                <a:solidFill>
                  <a:srgbClr val="FFFFFF"/>
                </a:solidFill>
                <a:ea typeface="+mn-lt"/>
                <a:cs typeface="+mn-lt"/>
              </a:rPr>
              <a:t>(Live Streaming).</a:t>
            </a:r>
            <a:r>
              <a:rPr lang="bg-BG" sz="1600" b="1" dirty="0">
                <a:solidFill>
                  <a:srgbClr val="FFFFFF"/>
                </a:solidFill>
                <a:latin typeface="Century"/>
                <a:ea typeface="+mn-lt"/>
                <a:cs typeface="+mn-lt"/>
              </a:rPr>
              <a:t>“</a:t>
            </a:r>
            <a:endParaRPr lang="bg-BG" sz="1600" b="1">
              <a:solidFill>
                <a:srgbClr val="FFFFFF"/>
              </a:solidFill>
              <a:latin typeface="Century"/>
            </a:endParaRPr>
          </a:p>
        </p:txBody>
      </p:sp>
      <p:sp>
        <p:nvSpPr>
          <p:cNvPr id="559" name="deco1"/>
          <p:cNvSpPr/>
          <p:nvPr/>
        </p:nvSpPr>
        <p:spPr>
          <a:xfrm>
            <a:off x="5209081" y="2332465"/>
            <a:ext cx="457357" cy="460880"/>
          </a:xfrm>
          <a:prstGeom prst="rect">
            <a:avLst/>
          </a:prstGeom>
          <a:solidFill>
            <a:srgbClr val="7109D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560" name="deco2"/>
          <p:cNvSpPr/>
          <p:nvPr/>
        </p:nvSpPr>
        <p:spPr>
          <a:xfrm>
            <a:off x="1275274" y="3459638"/>
            <a:ext cx="560719" cy="585964"/>
          </a:xfrm>
          <a:prstGeom prst="rect">
            <a:avLst/>
          </a:prstGeom>
          <a:solidFill>
            <a:srgbClr val="7109D8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561" name="deco3"/>
          <p:cNvSpPr/>
          <p:nvPr/>
        </p:nvSpPr>
        <p:spPr>
          <a:xfrm>
            <a:off x="1073465" y="3301943"/>
            <a:ext cx="317638" cy="315389"/>
          </a:xfrm>
          <a:prstGeom prst="rect">
            <a:avLst/>
          </a:prstGeom>
          <a:solidFill>
            <a:srgbClr val="7109D8">
              <a:alpha val="57000"/>
            </a:srgbClr>
          </a:solidFill>
          <a:ln>
            <a:noFill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Въведение</a:t>
            </a:r>
            <a:endParaRPr lang="en-US" sz="2400" dirty="0"/>
          </a:p>
        </p:txBody>
      </p:sp>
      <p:pic>
        <p:nvPicPr>
          <p:cNvPr id="4" name="Image 0" descr="https://images.unsplash.com/photo-1558618666-fcd25c85cd64?w=600&amp;q=8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39319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91440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Широко приложение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261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Системите за видеонаблюдение са неизменна част от съвременната сигурност.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210312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 без инсталация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2450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технологиите позволяват достъп директно в браузъра.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329184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291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допълнителен хардуер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3639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 изисква специализиран клиентски софтуер или хардуер.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на проекта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на живо директно в браузъра без закъснение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на движение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засичане и маркиране на движещи се обекти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съобразеност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личните данни съгласно европейското законодателство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Използвани технологии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език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фреймуърк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A30000"/>
          </a:solidFill>
          <a:ln w="12700">
            <a:solidFill>
              <a:srgbClr val="A3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2651760" cy="150876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2743200"/>
            <a:ext cx="2651760" cy="150876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Стрийминг протоколи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Недостатък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Ниска латентност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 специален плейър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 поддръжка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латентност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Реално време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Сложна имплементация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Прост, нативен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По-голям bandwidth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Избран протокол: MJPEG over HTTP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 за детекция на движение</a:t>
            </a:r>
            <a:endParaRPr lang="en-US" sz="2400" dirty="0"/>
          </a:p>
        </p:txBody>
      </p:sp>
      <p:pic>
        <p:nvPicPr>
          <p:cNvPr id="4" name="Image 0" descr="https://images.unsplash.com/photo-1617802690658-1173a812650d?w=600&amp;q=8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914400"/>
            <a:ext cx="37947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преобразуване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15910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 (21×21)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203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absdiff между кадри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816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Намиране на контури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в реално време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работи приложението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 кадри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64208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47672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93392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получава stream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12464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обработва кадри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77256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22976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2976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изпраща към браузър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8584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42048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87768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87768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записва събития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засечено движение → събитието се записва автоматично в MariaDB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функционалности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2471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🟩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5955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с bounding boxes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2471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на снимки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5955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Логване на събития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2471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потребителски права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5955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за управление на камерите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и Frontend архитектура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+ OpenCV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CameraSource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MotionEvent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MariaDB база данни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 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/ AJAX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Визуализация на потока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Преглед на събитията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Асинхронно управление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400" dirty="0"/>
          </a:p>
        </p:txBody>
      </p:sp>
      <p:pic>
        <p:nvPicPr>
          <p:cNvPr id="4" name="Image 0" descr="https://images.unsplash.com/photo-1563013544-824ae1b704d3?w=600&amp;q=8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914400"/>
            <a:ext cx="39776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005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Постигнато: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270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Работеща система за уеб-базирано видеонаблюдение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" y="2130552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48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Достъпна директно в браузъра без допълнителен софтуер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2752344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7706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детекция и логване на движение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Бъдещо развитие: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61188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Machine Learning детекция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5935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WebRTC поддръжка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306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Множество камери едновременно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Ви за вниманието!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Костадин Димитров Пидов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Уеб-базирана система за видеонаблюдение с детекция на движение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707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40</cp:revision>
  <dcterms:created xsi:type="dcterms:W3CDTF">2026-05-12T09:25:33Z</dcterms:created>
  <dcterms:modified xsi:type="dcterms:W3CDTF">2026-05-13T07:04:35Z</dcterms:modified>
</cp:coreProperties>
</file>